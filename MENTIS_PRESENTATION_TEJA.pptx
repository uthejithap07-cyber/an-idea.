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6D920-9947-4757-9AFB-1C389FE05A23}" v="29" dt="2026-01-30T07:12:26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vgsilh.com/image/2009195.html" TargetMode="Externa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ndon.net/health-wellness/anxiety-disorders-and-anxiety-attack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utisminnb.blogspot.com/2008/09/conor-lowers-flag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95885"/>
            <a:ext cx="11691620" cy="1123315"/>
          </a:xfrm>
        </p:spPr>
        <p:txBody>
          <a:bodyPr/>
          <a:lstStyle/>
          <a:p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MENTIS</a:t>
            </a:r>
            <a:r>
              <a:rPr 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 202</a:t>
            </a:r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95" y="1337945"/>
            <a:ext cx="11113986" cy="58064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Problem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ID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MENTIS1025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Peer-Led Interventions for Anxiety, Depression, and Digital Addiction in Youth.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Peer-Led Strategies for Emotional Resilience and Healthy Digital Habits.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–FOURSOME.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g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430" y="347345"/>
            <a:ext cx="1833245" cy="607060"/>
          </a:xfrm>
          <a:prstGeom prst="rect">
            <a:avLst/>
          </a:prstGeom>
        </p:spPr>
      </p:pic>
      <p:pic>
        <p:nvPicPr>
          <p:cNvPr id="3" name="Picture 2" descr="viba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675" y="347345"/>
            <a:ext cx="1645285" cy="619760"/>
          </a:xfrm>
          <a:prstGeom prst="rect">
            <a:avLst/>
          </a:prstGeom>
        </p:spPr>
      </p:pic>
      <p:pic>
        <p:nvPicPr>
          <p:cNvPr id="6" name="Picture 5" descr="nau logo (1)"/>
          <p:cNvPicPr>
            <a:picLocks noChangeAspect="1"/>
          </p:cNvPicPr>
          <p:nvPr/>
        </p:nvPicPr>
        <p:blipFill>
          <a:blip r:embed="rId4"/>
          <a:srcRect t="31682" b="28527"/>
          <a:stretch>
            <a:fillRect/>
          </a:stretch>
        </p:blipFill>
        <p:spPr>
          <a:xfrm>
            <a:off x="2252980" y="394970"/>
            <a:ext cx="1433195" cy="524510"/>
          </a:xfrm>
          <a:prstGeom prst="rect">
            <a:avLst/>
          </a:prstGeom>
        </p:spPr>
      </p:pic>
      <p:pic>
        <p:nvPicPr>
          <p:cNvPr id="9" name="Picture 8" descr="innerwhispers-logo-removebg-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" y="-148590"/>
            <a:ext cx="1610995" cy="1610995"/>
          </a:xfrm>
          <a:prstGeom prst="rect">
            <a:avLst/>
          </a:prstGeom>
        </p:spPr>
      </p:pic>
      <p:pic>
        <p:nvPicPr>
          <p:cNvPr id="11" name="Picture 10" descr="vaagdevi-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95" y="181610"/>
            <a:ext cx="8001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PEER-CARE CONNECT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2322376"/>
            <a:ext cx="12191999" cy="42165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accent2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Proposed Solution</a:t>
            </a:r>
            <a:r>
              <a:rPr lang="en-US" sz="32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u="sng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gency FB" panose="020B0503020202020204" pitchFamily="34" charset="0"/>
                <a:cs typeface="Arial" panose="020B0604020202020204" pitchFamily="34" charset="0"/>
              </a:rPr>
              <a:t>PEER-CARE Connect is a peer-led mental health and digital wellbeing platform where trained youth peers act as first-line supporters, supported by AI-based monitoring and professional escalation.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gency FB" panose="020B0503020202020204" pitchFamily="34" charset="0"/>
                <a:cs typeface="Arial" panose="020B0604020202020204" pitchFamily="34" charset="0"/>
              </a:rPr>
              <a:t>Combines peer trust + AI </a:t>
            </a:r>
            <a:r>
              <a:rPr lang="en-US" sz="2800" dirty="0" err="1">
                <a:latin typeface="Agency FB" panose="020B0503020202020204" pitchFamily="34" charset="0"/>
                <a:cs typeface="Arial" panose="020B0604020202020204" pitchFamily="34" charset="0"/>
              </a:rPr>
              <a:t>safety.Prevents</a:t>
            </a:r>
            <a:r>
              <a:rPr lang="en-US" sz="2800" dirty="0">
                <a:latin typeface="Agency FB" panose="020B0503020202020204" pitchFamily="34" charset="0"/>
                <a:cs typeface="Arial" panose="020B0604020202020204" pitchFamily="34" charset="0"/>
              </a:rPr>
              <a:t> digital addiction using peer motivation.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gency FB" panose="020B0503020202020204" pitchFamily="34" charset="0"/>
                <a:cs typeface="Arial" panose="020B0604020202020204" pitchFamily="34" charset="0"/>
              </a:rPr>
              <a:t>Early mental health detection before crisis.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gency FB" panose="020B0503020202020204" pitchFamily="34" charset="0"/>
                <a:cs typeface="Arial" panose="020B0604020202020204" pitchFamily="34" charset="0"/>
              </a:rPr>
              <a:t>Low-cost and scalable for schools &amp; colleges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32AB8-9C3C-6B33-6EE5-04B06594F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42" y="828978"/>
            <a:ext cx="3901558" cy="2600022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79938" y="2588673"/>
            <a:ext cx="9385300" cy="22467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empus Sans ITC" panose="04020404030D07020202" pitchFamily="82" charset="0"/>
                <a:cs typeface="Arial" panose="020B0604020202020204" pitchFamily="34" charset="0"/>
              </a:rPr>
              <a:t>Technologies to be used are:-</a:t>
            </a:r>
          </a:p>
          <a:p>
            <a:pPr algn="just"/>
            <a:r>
              <a:rPr lang="en-US" sz="2800" dirty="0">
                <a:latin typeface="Tempus Sans ITC" panose="04020404030D07020202" pitchFamily="82" charset="0"/>
                <a:cs typeface="Arial" panose="020B0604020202020204" pitchFamily="34" charset="0"/>
              </a:rPr>
              <a:t>-Frontend: Flutter / React</a:t>
            </a:r>
          </a:p>
          <a:p>
            <a:pPr algn="just"/>
            <a:r>
              <a:rPr lang="en-US" sz="2800" dirty="0">
                <a:latin typeface="Tempus Sans ITC" panose="04020404030D07020202" pitchFamily="82" charset="0"/>
                <a:cs typeface="Arial" panose="020B0604020202020204" pitchFamily="34" charset="0"/>
              </a:rPr>
              <a:t>Backend: Firebase / Node.js</a:t>
            </a:r>
          </a:p>
          <a:p>
            <a:pPr algn="just"/>
            <a:r>
              <a:rPr lang="en-US" sz="2800" dirty="0">
                <a:latin typeface="Tempus Sans ITC" panose="04020404030D07020202" pitchFamily="82" charset="0"/>
                <a:cs typeface="Arial" panose="020B0604020202020204" pitchFamily="34" charset="0"/>
              </a:rPr>
              <a:t>AI Module: Python (pattern detection)</a:t>
            </a:r>
          </a:p>
          <a:p>
            <a:pPr algn="just"/>
            <a:r>
              <a:rPr lang="en-US" sz="2800" dirty="0">
                <a:latin typeface="Tempus Sans ITC" panose="04020404030D07020202" pitchFamily="82" charset="0"/>
                <a:cs typeface="Arial" panose="020B0604020202020204" pitchFamily="34" charset="0"/>
              </a:rPr>
              <a:t>Security: End-to-end encryption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EEE698-5B02-037A-9656-B5918B893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74638" y="1438977"/>
            <a:ext cx="5307762" cy="3980045"/>
          </a:xfrm>
          <a:prstGeom prst="rect">
            <a:avLst/>
          </a:prstGeom>
          <a:effectLst>
            <a:softEdge rad="635000"/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41679" y="1443841"/>
            <a:ext cx="9385300" cy="48320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Uses existing student communities in schools and colleges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Potential challenges and risks: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-Peer burnout due to emotional involvement.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-Privacy and data security risks.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-Incorrect advice given by peers.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-Low participation due to stigma.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-Digital misuse of the platform (trolling / fake profiles).Delayed identification of severe mental health cases.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Arial" panose="020B0604020202020204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cs typeface="Arial" panose="020B0604020202020204" pitchFamily="34" charset="0"/>
              </a:rPr>
              <a:t> for overcoming these challenges: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-Mandatory training &amp; certification for peer </a:t>
            </a:r>
            <a:r>
              <a:rPr lang="en-US" sz="2800" dirty="0" err="1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leaders.Clear</a:t>
            </a: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do’s and don’ts guidelines. End-to-end encryption &amp; strict data privacy policies.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108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Reduced anxiety &amp; depression.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Healthier digital habits.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Increased peer bonding.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Early intervention saves lives.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dirty="0">
                <a:solidFill>
                  <a:prstClr val="black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“Youth helping youth — safely and smartly”.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E725D-6B3D-5720-D363-471839EA0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05438" y="1821087"/>
            <a:ext cx="4543425" cy="3238500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D101A-7808-106E-1CAC-EFF2D254C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World Health Organization (WHO) – Adolescent Mental Health &amp; Peer Support Models</a:t>
            </a:r>
          </a:p>
          <a:p>
            <a:r>
              <a:rPr lang="en-US" dirty="0">
                <a:latin typeface="Agency FB" panose="020B0503020202020204" pitchFamily="34" charset="0"/>
              </a:rPr>
              <a:t>UNICEF – Youth Mental Health and Digital Wellbeing Reports.</a:t>
            </a:r>
          </a:p>
          <a:p>
            <a:r>
              <a:rPr lang="en-US" dirty="0">
                <a:latin typeface="Agency FB" panose="020B0503020202020204" pitchFamily="34" charset="0"/>
              </a:rPr>
              <a:t>National Institute of Mental Health and Neurosciences (NIMHANS).</a:t>
            </a:r>
          </a:p>
          <a:p>
            <a:r>
              <a:rPr lang="en-US" dirty="0">
                <a:latin typeface="Agency FB" panose="020B0503020202020204" pitchFamily="34" charset="0"/>
              </a:rPr>
              <a:t>India – Youth Mental Health Initiatives.</a:t>
            </a:r>
          </a:p>
          <a:p>
            <a:r>
              <a:rPr lang="en-US" dirty="0">
                <a:latin typeface="Agency FB" panose="020B0503020202020204" pitchFamily="34" charset="0"/>
              </a:rPr>
              <a:t>Indian Journal of Psychiatry – Effectiveness of Peer-Led Interventions.</a:t>
            </a:r>
          </a:p>
          <a:p>
            <a:r>
              <a:rPr lang="en-US" dirty="0">
                <a:latin typeface="Agency FB" panose="020B0503020202020204" pitchFamily="34" charset="0"/>
              </a:rPr>
              <a:t>American Psychological Association (APA) – Digital Addiction &amp; Anxiety Studies.</a:t>
            </a:r>
          </a:p>
          <a:p>
            <a:r>
              <a:rPr lang="en-US" dirty="0">
                <a:latin typeface="Agency FB" panose="020B0503020202020204" pitchFamily="34" charset="0"/>
              </a:rPr>
              <a:t>Journal of Adolescent Health – Peer Support in Depression Prevention.</a:t>
            </a:r>
          </a:p>
          <a:p>
            <a:pPr marL="0" indent="0">
              <a:buNone/>
            </a:pPr>
            <a:r>
              <a:rPr lang="en-US" dirty="0">
                <a:latin typeface="Agency FB" panose="020B0503020202020204" pitchFamily="34" charset="0"/>
              </a:rPr>
              <a:t>                                                                                                           ~THANK YOU.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lvl="0"/>
            <a:fld id="{677C3CE7-23F7-4828-823C-E0205DF2CF97}" type="slidenum">
              <a:rPr lang="en-US" noProof="0"/>
              <a:pPr lvl="0"/>
              <a:t>6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6FA9D-311F-5741-F404-693F4EEE2F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96949" y="1220684"/>
            <a:ext cx="9720841" cy="3346519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358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MENTIS 2026</vt:lpstr>
      <vt:lpstr>PEER-CARE CONNECT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uthejithap07@gmail.com</cp:lastModifiedBy>
  <cp:revision>151</cp:revision>
  <dcterms:created xsi:type="dcterms:W3CDTF">2013-12-12T18:46:00Z</dcterms:created>
  <dcterms:modified xsi:type="dcterms:W3CDTF">2026-01-30T10:25:29Z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B1ACF414027544C39DD51EF06668D1E6_13</vt:lpwstr>
  </property>
  <property fmtid="{D5CDD505-2E9C-101B-9397-08002B2CF9AE}" pid="3" name="KSOProductBuildVer">
    <vt:lpwstr>1033-12.2.0.23196</vt:lpwstr>
  </property>
</Properties>
</file>